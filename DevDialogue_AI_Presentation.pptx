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C0727A-26DE-488D-AB6C-D3D81DCAF5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morning. This is DevDialogue AI, our final year project — a requirement-aware AI code generation system. I am [name], presenting with my team members.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07CA5-9343-433B-A5ED-CBB65CC762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 is our roadmap: the problem, our solution, how it compares to existing tools, the requirements, the design, and finally where the project stands and where it is going.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08432-496C-430C-9C72-C5BADE054F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problem is the trial-and-error loop. A developer prompts, gets partial code, inspects, re-prompts, and repeats. The cost is wasted time, cognitive load, and lost trust. The root cause: there is no structured step that gathers complete requirements before generation.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AEC13B-5B23-43A8-9A0F-8698D6010E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solution inverts the order: describe, interview, confirm, then generate. And it is delivered as a complete product — with secure OTP accounts, persistent sessions, and a polished code workspace, not just a proof of concept.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2C325A-9DD5-4C6B-B507-4FFFE4918A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are two modes. Mode 1 runs the full interview then generates everything at once — good for small tasks. Mode 2 generates module by module, pausing for approval after each — good for larger projects where you want control at each step.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5C323-64EB-4532-B539-D464F197DC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surveyed the leading tools. Each is powerful in its own way, but they share one blind spot: none gathers requirements before generating, and none offers an incremental approval-driven mode. That gap is exactly what DevDialogue AI targets.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C9D70-4E77-4083-BC29-79F3F06CDE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wrote a full IEEE-830 specification: 17 functional and 7 non-functional requirements, three user classes. The heart of it is the interview — four dimensions that single prompts usually miss: stack, modules, authentication, and constraints.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DAFBF5-C51C-4F68-8DD2-7598994E04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left, the key functional requirements — from OTP registration through the dialogue to multi-mode generation. On the right, the quality attributes: security, usability, reliability, maintainability, portability, and scalability.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E09105-6D05-4A8C-BD9F-C26768E25A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entities back the system: User and its Profile, Session, Message, and GeneratedCode. Relationships use cascading deletes, so removing a session cleanly removes its messages and generated files.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8B920-066A-4B11-B781-BF06E44D27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dialogue engine is the heart of the system. It asks questions in order, tracks answers, builds the summary, waits for confirmation, and then generates — either all at once or module by module. The activity diagram on the right shows the full flow including Mode 2 approval loop.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7A20C0-E263-48EA-8B5F-AD12325BB4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sequence diagram traces a real Mode 1 request. The browser posts a message; the view authenticates and delegates to the engine; the engine saves, decides the next step, and responds; the files are then loaded into the workspace. Views are stateless, so the tier scales easily.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0F1DA7-4C01-43C4-AB04-FD911F75ED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was built in, not bolted on. Accounts must be verified by OTP; OTP codes expire in two minutes; passwords must pass a custom strength policy; and every view is guarded with CSRF protection on all state-changing requests.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26414-0015-47F5-B8FD-BA70A2B00E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stack is Django 6.0 on Python 3 with the MVT pattern, a vanilla-JS frontend, SQLite through the ORM, Django auth with SMTP for OTP, a real test suite, and standard Git tooling.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31B41-1AD3-4BCA-9448-B632BC818A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Being transparent about status: the elicitation dialogue, both modes, the full account system, sessions, and the workspace all work today. Generation currently returns structured templates through the engine — and because that engine is isolated behind one interface, a live LLM can drop straight in. That is our main future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4DC103-6B18-4168-A1F8-9EF7EA51BB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roadmap is straightforward because of how we built it: first drop a live model into the engine, then add workflow orchestration, then teach the interview when to stop, and finally scale the database and extend to an IDE and more languages.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CDB38-960E-491E-9B5C-B107E602B3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project maps to four SDGs: quality education, decent work and growth, industry and innovation, and partnerships — through open technology and third-party AI integration.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7970A-195B-4CAC-B11A-83287740A3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summarise: DevDialogue AI demonstrates that asking for requirements first improves AI-assisted coding. We delivered a working dialogue, two generation modes, a complete secure application, and an architecture ready for a live model. Thank you — we are happy to take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12A42E-0D56-4E58-A33D-D07B3A97AD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869680" y="-1554480"/>
            <a:ext cx="4754520" cy="4754520"/>
          </a:xfrm>
          <a:prstGeom prst="ellipse">
            <a:avLst/>
          </a:prstGeom>
          <a:noFill/>
          <a:ln w="19050">
            <a:solidFill>
              <a:srgbClr val="2E3A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784080" y="-640080"/>
            <a:ext cx="2925720" cy="2925720"/>
          </a:xfrm>
          <a:prstGeom prst="ellipse">
            <a:avLst/>
          </a:prstGeom>
          <a:noFill/>
          <a:ln w="19050">
            <a:solidFill>
              <a:srgbClr val="344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424160" y="0"/>
            <a:ext cx="1645560" cy="1645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0424160" y="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18745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300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FINAL YEAR PROJECT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77240" y="228600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DevDialogue AI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33832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ui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nt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ar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AI 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er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at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io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Sy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st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868680" y="4114800"/>
            <a:ext cx="3200400" cy="360"/>
          </a:xfrm>
          <a:prstGeom prst="line">
            <a:avLst/>
          </a:prstGeom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22960" y="429768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Syed Wafa Abbas Naqvi (37249)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Shehryar Mobashar (37189)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Shehryar Khan (37045)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822960" y="544068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Su</a:t>
            </a:r>
            <a:r>
              <a:rPr lang="en-US" sz="1400" b="1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per</a:t>
            </a:r>
            <a:r>
              <a:rPr lang="en-US" sz="1400" b="1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vis</a:t>
            </a:r>
            <a:r>
              <a:rPr lang="en-US" sz="1400" b="1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or:  </a:t>
            </a:r>
            <a:r>
              <a:rPr lang="en-US" sz="14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Su</a:t>
            </a:r>
            <a:r>
              <a:rPr lang="en-US" sz="14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mai</a:t>
            </a:r>
            <a:r>
              <a:rPr lang="en-US" sz="14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ra </a:t>
            </a:r>
            <a:r>
              <a:rPr lang="en-US" sz="14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Asl</a:t>
            </a:r>
            <a:r>
              <a:rPr lang="en-US" sz="14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am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22960" y="59893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Department of Computing &amp; Technology  ·  Iqra University, H-9 Islamabad  ·  Batch 2022–</a:t>
            </a:r>
            <a:r>
              <a:rPr lang="en-US" sz="1200" b="0" i="1" u="none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W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h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a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W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e 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W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il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l 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C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v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640080" y="1691640"/>
            <a:ext cx="5440320" cy="1188360"/>
          </a:xfrm>
          <a:prstGeom prst="roundRect">
            <a:avLst>
              <a:gd name="adj" fmla="val 692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896040" y="20026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896040" y="20026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645920" y="189288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The Problem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645920" y="229500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Why single-prompt AI coding tools fall short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400800" y="1691640"/>
            <a:ext cx="5440320" cy="1188360"/>
          </a:xfrm>
          <a:prstGeom prst="roundRect">
            <a:avLst>
              <a:gd name="adj" fmla="val 692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6656760" y="20026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656760" y="20026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7406640" y="189288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Our 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7406640" y="229500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DevDialogue AI and its two generation modes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640080" y="3136320"/>
            <a:ext cx="5440320" cy="1188360"/>
          </a:xfrm>
          <a:prstGeom prst="roundRect">
            <a:avLst>
              <a:gd name="adj" fmla="val 692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896040" y="344736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896040" y="34473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1645920" y="333756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Literature &amp; Gap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1645920" y="374004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How existing tools compare, and the gap we fill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6400800" y="3136320"/>
            <a:ext cx="5440320" cy="1188360"/>
          </a:xfrm>
          <a:prstGeom prst="roundRect">
            <a:avLst>
              <a:gd name="adj" fmla="val 692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6656760" y="344736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6656760" y="34473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7406640" y="333756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Requirements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7406640" y="374004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Functional &amp; non-functional specification (SRS)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640080" y="4581000"/>
            <a:ext cx="5440320" cy="1188360"/>
          </a:xfrm>
          <a:prstGeom prst="roundRect">
            <a:avLst>
              <a:gd name="adj" fmla="val 692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896040" y="489204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896040" y="48920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1645920" y="478224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System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1645920" y="518472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Architecture, data model, and design models (SDS)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6400800" y="4581000"/>
            <a:ext cx="5440320" cy="1188360"/>
          </a:xfrm>
          <a:prstGeom prst="roundRect">
            <a:avLst>
              <a:gd name="adj" fmla="val 692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6656760" y="489204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6656760" y="48920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7406640" y="478224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Status &amp; Future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7406640" y="518472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What works today and the road ahead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2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48640" y="45720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Trial-and-Error Loop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48640" y="1463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AI code tools answer whatever prompt they are given — with no step that checks whether the request is even complete.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548640" y="2377440"/>
            <a:ext cx="1965600" cy="1462680"/>
          </a:xfrm>
          <a:prstGeom prst="roundRect">
            <a:avLst>
              <a:gd name="adj" fmla="val 5000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1257480" y="257868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257480" y="2578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548640" y="316368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Prompt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658440" y="3456360"/>
            <a:ext cx="174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Developer writes a brief description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2496240" y="288036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1A32C"/>
                </a:solidFill>
                <a:effectLst/>
                <a:uFillTx/>
                <a:latin typeface="Calibri"/>
              </a:rPr>
              <a:t>▶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2770560" y="2377440"/>
            <a:ext cx="1965600" cy="1462680"/>
          </a:xfrm>
          <a:prstGeom prst="roundRect">
            <a:avLst>
              <a:gd name="adj" fmla="val 5000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3479400" y="257868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3479400" y="2578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2770560" y="316368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Output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2880360" y="3456360"/>
            <a:ext cx="174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Receives partially-correct code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4718160" y="288036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1A32C"/>
                </a:solidFill>
                <a:effectLst/>
                <a:uFillTx/>
                <a:latin typeface="Calibri"/>
              </a:rPr>
              <a:t>▶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4992480" y="2377440"/>
            <a:ext cx="1965600" cy="1462680"/>
          </a:xfrm>
          <a:prstGeom prst="roundRect">
            <a:avLst>
              <a:gd name="adj" fmla="val 5000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5701320" y="257868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5701320" y="2578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4992480" y="316368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Inspect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5102280" y="3456360"/>
            <a:ext cx="174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Finds the missing pieces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6940440" y="288036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1A32C"/>
                </a:solidFill>
                <a:effectLst/>
                <a:uFillTx/>
                <a:latin typeface="Calibri"/>
              </a:rPr>
              <a:t>▶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1"/>
          <p:cNvSpPr/>
          <p:nvPr/>
        </p:nvSpPr>
        <p:spPr>
          <a:xfrm>
            <a:off x="7214760" y="2377440"/>
            <a:ext cx="1965600" cy="1462680"/>
          </a:xfrm>
          <a:prstGeom prst="roundRect">
            <a:avLst>
              <a:gd name="adj" fmla="val 5000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7923240" y="257868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3"/>
          <p:cNvSpPr/>
          <p:nvPr/>
        </p:nvSpPr>
        <p:spPr>
          <a:xfrm>
            <a:off x="7923240" y="2578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4"/>
          <p:cNvSpPr/>
          <p:nvPr/>
        </p:nvSpPr>
        <p:spPr>
          <a:xfrm>
            <a:off x="7214760" y="316368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Re-prompt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7324200" y="3456360"/>
            <a:ext cx="174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Re-describes what was missed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6"/>
          <p:cNvSpPr/>
          <p:nvPr/>
        </p:nvSpPr>
        <p:spPr>
          <a:xfrm>
            <a:off x="9162360" y="288036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1A32C"/>
                </a:solidFill>
                <a:effectLst/>
                <a:uFillTx/>
                <a:latin typeface="Calibri"/>
              </a:rPr>
              <a:t>▶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9436680" y="2377440"/>
            <a:ext cx="1965600" cy="1462680"/>
          </a:xfrm>
          <a:prstGeom prst="roundRect">
            <a:avLst>
              <a:gd name="adj" fmla="val 5000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10145160" y="257868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9"/>
          <p:cNvSpPr/>
          <p:nvPr/>
        </p:nvSpPr>
        <p:spPr>
          <a:xfrm>
            <a:off x="10145160" y="2578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0"/>
          <p:cNvSpPr/>
          <p:nvPr/>
        </p:nvSpPr>
        <p:spPr>
          <a:xfrm>
            <a:off x="9436680" y="316368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Repeat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1"/>
          <p:cNvSpPr/>
          <p:nvPr/>
        </p:nvSpPr>
        <p:spPr>
          <a:xfrm>
            <a:off x="9546480" y="3456360"/>
            <a:ext cx="174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FC4D6"/>
                </a:solidFill>
                <a:effectLst/>
                <a:uFillTx/>
                <a:latin typeface="Calibri"/>
                <a:ea typeface="Calibri"/>
              </a:rPr>
              <a:t>…again, and again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2"/>
          <p:cNvSpPr/>
          <p:nvPr/>
        </p:nvSpPr>
        <p:spPr>
          <a:xfrm>
            <a:off x="548640" y="4343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Wasted time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3"/>
          <p:cNvSpPr/>
          <p:nvPr/>
        </p:nvSpPr>
        <p:spPr>
          <a:xfrm>
            <a:off x="548640" y="472752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iterative correction, not building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4"/>
          <p:cNvSpPr/>
          <p:nvPr/>
        </p:nvSpPr>
        <p:spPr>
          <a:xfrm>
            <a:off x="4251960" y="4343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Cognitive load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5"/>
          <p:cNvSpPr/>
          <p:nvPr/>
        </p:nvSpPr>
        <p:spPr>
          <a:xfrm>
            <a:off x="4251960" y="472752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tracking what the tool misunderstood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6"/>
          <p:cNvSpPr/>
          <p:nvPr/>
        </p:nvSpPr>
        <p:spPr>
          <a:xfrm>
            <a:off x="7955280" y="4343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Lost trust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7"/>
          <p:cNvSpPr/>
          <p:nvPr/>
        </p:nvSpPr>
        <p:spPr>
          <a:xfrm>
            <a:off x="7955280" y="472752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adoption stalls for serious work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8"/>
          <p:cNvSpPr/>
          <p:nvPr/>
        </p:nvSpPr>
        <p:spPr>
          <a:xfrm>
            <a:off x="548640" y="548640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9"/>
          <p:cNvSpPr/>
          <p:nvPr/>
        </p:nvSpPr>
        <p:spPr>
          <a:xfrm>
            <a:off x="822960" y="5486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core gap: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structured, dialogue-driven mechanism collects complete requirements before code is generated.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0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1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THE SOLUTION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DevDialogue AI: Ask First, Generate Second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548640" y="14173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 web platform that runs a structured requirement interview before writing any code — turning a reactive guess into a proactive, requirement-aware process.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640080" y="2286000"/>
            <a:ext cx="2605680" cy="182844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1531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1531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531800" y="2541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640080" y="345636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Describe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77724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Developer states the project idea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3250800" y="30632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3502080" y="2286000"/>
            <a:ext cx="2605680" cy="182844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4393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4393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4393800" y="2541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3502080" y="345636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Interview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363924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Engine asks targeted questions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6112800" y="30632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6364080" y="2286000"/>
            <a:ext cx="2605680" cy="182844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7255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9"/>
          <p:cNvSpPr/>
          <p:nvPr/>
        </p:nvSpPr>
        <p:spPr>
          <a:xfrm>
            <a:off x="7255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7255800" y="2541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6364080" y="345636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Confirm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2"/>
          <p:cNvSpPr/>
          <p:nvPr/>
        </p:nvSpPr>
        <p:spPr>
          <a:xfrm>
            <a:off x="650124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Requirements summary is reviewed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8974800" y="30632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4"/>
          <p:cNvSpPr/>
          <p:nvPr/>
        </p:nvSpPr>
        <p:spPr>
          <a:xfrm>
            <a:off x="9226440" y="2286000"/>
            <a:ext cx="2605680" cy="182844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5"/>
          <p:cNvSpPr/>
          <p:nvPr/>
        </p:nvSpPr>
        <p:spPr>
          <a:xfrm>
            <a:off x="10117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6"/>
          <p:cNvSpPr/>
          <p:nvPr/>
        </p:nvSpPr>
        <p:spPr>
          <a:xfrm>
            <a:off x="10117800" y="254196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7"/>
          <p:cNvSpPr/>
          <p:nvPr/>
        </p:nvSpPr>
        <p:spPr>
          <a:xfrm>
            <a:off x="10117800" y="2541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8"/>
          <p:cNvSpPr/>
          <p:nvPr/>
        </p:nvSpPr>
        <p:spPr>
          <a:xfrm>
            <a:off x="9226440" y="345636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Generate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936360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Files appear in a code workspace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0"/>
          <p:cNvSpPr/>
          <p:nvPr/>
        </p:nvSpPr>
        <p:spPr>
          <a:xfrm>
            <a:off x="548640" y="452628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822960" y="4663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Built as a real product, not a demo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822960" y="50749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Secure email-OTP accounts  ·  persistent chat-style sessions  ·  ChatGPT-style code workspace  ·  dark / light themes  ·  subscription tiers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4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Two Generation Modes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640080" y="1737360"/>
            <a:ext cx="5348880" cy="411444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640080" y="1737360"/>
            <a:ext cx="5348880" cy="868320"/>
          </a:xfrm>
          <a:prstGeom prst="roundRect">
            <a:avLst>
              <a:gd name="adj" fmla="val 9474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914400" y="18655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Mode 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914400" y="224028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Dialogue-Driven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914400" y="2880360"/>
            <a:ext cx="47088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Full interview first, then the entire codebase at once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Best for smaller, well-defined tasks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One confirmation → complete set of files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914400" y="52578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“Answer everything, get everything.”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6400800" y="1737360"/>
            <a:ext cx="5348880" cy="411444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6400800" y="1737360"/>
            <a:ext cx="5348880" cy="86832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6675120" y="18655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Mode 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6675120" y="224028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8EEF2"/>
                </a:solidFill>
                <a:effectLst/>
                <a:uFillTx/>
                <a:latin typeface="Calibri"/>
                <a:ea typeface="Calibri"/>
              </a:rPr>
              <a:t>Incremental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6675120" y="2880360"/>
            <a:ext cx="47088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Generates one module at a time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Pauses for approval after each file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Request changes → module is regenerated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9485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Best for larger, multi-part projects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6675120" y="52578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“Build step-by-step, stay in control.”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LITERATURE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How Existing Tools Compare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640080" y="1691640"/>
            <a:ext cx="2377080" cy="566640"/>
          </a:xfrm>
          <a:prstGeom prst="rect">
            <a:avLst/>
          </a:prstGeom>
          <a:solidFill>
            <a:srgbClr val="065A82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777240" y="169164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3017520" y="1691640"/>
            <a:ext cx="3840120" cy="566640"/>
          </a:xfrm>
          <a:prstGeom prst="rect">
            <a:avLst/>
          </a:prstGeom>
          <a:solidFill>
            <a:srgbClr val="065A82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3154680" y="169164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Strength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6858000" y="1691640"/>
            <a:ext cx="4754520" cy="566640"/>
          </a:xfrm>
          <a:prstGeom prst="rect">
            <a:avLst/>
          </a:prstGeom>
          <a:solidFill>
            <a:srgbClr val="065A82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6995160" y="1691640"/>
            <a:ext cx="4525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shared blind spot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640080" y="2258640"/>
            <a:ext cx="23770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777240" y="225864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GitHub Copilot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3017520" y="2258640"/>
            <a:ext cx="38401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3154680" y="225864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Deep IDE integration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2"/>
          <p:cNvSpPr/>
          <p:nvPr/>
        </p:nvSpPr>
        <p:spPr>
          <a:xfrm>
            <a:off x="6858000" y="2258640"/>
            <a:ext cx="47545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6995160" y="2258640"/>
            <a:ext cx="4525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No pre-generation requirement gathering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640080" y="2825640"/>
            <a:ext cx="2377080" cy="566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777240" y="282564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ChatGPT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3017520" y="2825640"/>
            <a:ext cx="3840120" cy="566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3154680" y="282564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Strong conversational context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6858000" y="2825640"/>
            <a:ext cx="4754520" cy="566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6995160" y="2825640"/>
            <a:ext cx="4525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No structured elicitation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0"/>
          <p:cNvSpPr/>
          <p:nvPr/>
        </p:nvSpPr>
        <p:spPr>
          <a:xfrm>
            <a:off x="640080" y="3392280"/>
            <a:ext cx="23770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777240" y="339228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Gemini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3017520" y="3392280"/>
            <a:ext cx="38401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3154680" y="339228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Powerful reasoning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4"/>
          <p:cNvSpPr/>
          <p:nvPr/>
        </p:nvSpPr>
        <p:spPr>
          <a:xfrm>
            <a:off x="6858000" y="3392280"/>
            <a:ext cx="47545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6995160" y="3392280"/>
            <a:ext cx="4525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No project-level requirement planning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6"/>
          <p:cNvSpPr/>
          <p:nvPr/>
        </p:nvSpPr>
        <p:spPr>
          <a:xfrm>
            <a:off x="640080" y="3959280"/>
            <a:ext cx="2377080" cy="566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777240" y="395928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DeepSeek Coder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8"/>
          <p:cNvSpPr/>
          <p:nvPr/>
        </p:nvSpPr>
        <p:spPr>
          <a:xfrm>
            <a:off x="3017520" y="3959280"/>
            <a:ext cx="3840120" cy="566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9"/>
          <p:cNvSpPr/>
          <p:nvPr/>
        </p:nvSpPr>
        <p:spPr>
          <a:xfrm>
            <a:off x="3154680" y="395928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High accuracy, low cost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0"/>
          <p:cNvSpPr/>
          <p:nvPr/>
        </p:nvSpPr>
        <p:spPr>
          <a:xfrm>
            <a:off x="6858000" y="3959280"/>
            <a:ext cx="4754520" cy="566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1"/>
          <p:cNvSpPr/>
          <p:nvPr/>
        </p:nvSpPr>
        <p:spPr>
          <a:xfrm>
            <a:off x="6995160" y="3959280"/>
            <a:ext cx="4525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Needs already-complete prompts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2"/>
          <p:cNvSpPr/>
          <p:nvPr/>
        </p:nvSpPr>
        <p:spPr>
          <a:xfrm>
            <a:off x="640080" y="4526280"/>
            <a:ext cx="23770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3"/>
          <p:cNvSpPr/>
          <p:nvPr/>
        </p:nvSpPr>
        <p:spPr>
          <a:xfrm>
            <a:off x="777240" y="452628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Cursor 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4"/>
          <p:cNvSpPr/>
          <p:nvPr/>
        </p:nvSpPr>
        <p:spPr>
          <a:xfrm>
            <a:off x="3017520" y="4526280"/>
            <a:ext cx="38401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5"/>
          <p:cNvSpPr/>
          <p:nvPr/>
        </p:nvSpPr>
        <p:spPr>
          <a:xfrm>
            <a:off x="3154680" y="452628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631"/>
                </a:solidFill>
                <a:effectLst/>
                <a:uFillTx/>
                <a:latin typeface="Calibri"/>
                <a:ea typeface="Calibri"/>
              </a:rPr>
              <a:t>Codebase-aware edits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6"/>
          <p:cNvSpPr/>
          <p:nvPr/>
        </p:nvSpPr>
        <p:spPr>
          <a:xfrm>
            <a:off x="6858000" y="4526280"/>
            <a:ext cx="47545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7"/>
          <p:cNvSpPr/>
          <p:nvPr/>
        </p:nvSpPr>
        <p:spPr>
          <a:xfrm>
            <a:off x="6995160" y="4526280"/>
            <a:ext cx="4525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No upfront requirement interview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8"/>
          <p:cNvSpPr/>
          <p:nvPr/>
        </p:nvSpPr>
        <p:spPr>
          <a:xfrm>
            <a:off x="640080" y="5276160"/>
            <a:ext cx="10972440" cy="868320"/>
          </a:xfrm>
          <a:prstGeom prst="roundRect">
            <a:avLst>
              <a:gd name="adj" fmla="val 8421"/>
            </a:avLst>
          </a:prstGeom>
          <a:solidFill>
            <a:srgbClr val="E1A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9"/>
          <p:cNvSpPr/>
          <p:nvPr/>
        </p:nvSpPr>
        <p:spPr>
          <a:xfrm>
            <a:off x="914400" y="527616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A2100"/>
                </a:solidFill>
                <a:effectLst/>
                <a:uFillTx/>
                <a:latin typeface="Calibri"/>
                <a:ea typeface="Calibri"/>
              </a:rPr>
              <a:t>The gap:  </a:t>
            </a:r>
            <a:r>
              <a:rPr lang="en-US" sz="1450" b="0" u="none" strike="noStrike">
                <a:solidFill>
                  <a:srgbClr val="2A2100"/>
                </a:solidFill>
                <a:effectLst/>
                <a:uFillTx/>
                <a:latin typeface="Calibri"/>
                <a:ea typeface="Calibri"/>
              </a:rPr>
              <a:t>none of them ask structured questions before generating, and none offer an incremental, approval-driven build mode.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0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1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REQUIREMENTS (SRS)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Specified to IEEE 830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14173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The system was specified with a full IEEE-830 SRS covering scope, users, interfaces, and detailed requirements.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640080" y="2194560"/>
            <a:ext cx="2651400" cy="1737000"/>
          </a:xfrm>
          <a:prstGeom prst="roundRect">
            <a:avLst>
              <a:gd name="adj" fmla="val 473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640080" y="24505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17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777240" y="3364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Functional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3547800" y="2194560"/>
            <a:ext cx="2651400" cy="1737000"/>
          </a:xfrm>
          <a:prstGeom prst="roundRect">
            <a:avLst>
              <a:gd name="adj" fmla="val 473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3547800" y="24505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3684960" y="3364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Non-functional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6455520" y="2194560"/>
            <a:ext cx="2651400" cy="1737000"/>
          </a:xfrm>
          <a:prstGeom prst="roundRect">
            <a:avLst>
              <a:gd name="adj" fmla="val 473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6455520" y="24505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6592680" y="3364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User classes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9363600" y="2194560"/>
            <a:ext cx="2651400" cy="1737000"/>
          </a:xfrm>
          <a:prstGeom prst="roundRect">
            <a:avLst>
              <a:gd name="adj" fmla="val 473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9363600" y="24505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9500760" y="3364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Requirement dimensions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640080" y="42062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The interview covers four dimensions most often left unstated: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640080" y="4709160"/>
            <a:ext cx="2651400" cy="1234080"/>
          </a:xfrm>
          <a:prstGeom prst="roundRect">
            <a:avLst>
              <a:gd name="adj" fmla="val 5185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777240" y="48189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1188720" y="48553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Tech 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822960" y="53125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languages, frameworks, database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3547800" y="4709160"/>
            <a:ext cx="2651400" cy="1234080"/>
          </a:xfrm>
          <a:prstGeom prst="roundRect">
            <a:avLst>
              <a:gd name="adj" fmla="val 5185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3684960" y="48189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4096440" y="48553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Core modules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3730680" y="53125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the main features to include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4"/>
          <p:cNvSpPr/>
          <p:nvPr/>
        </p:nvSpPr>
        <p:spPr>
          <a:xfrm>
            <a:off x="6455520" y="4709160"/>
            <a:ext cx="2651400" cy="1234080"/>
          </a:xfrm>
          <a:prstGeom prst="roundRect">
            <a:avLst>
              <a:gd name="adj" fmla="val 5185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6592680" y="48189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7004160" y="48553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Authentication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6638400" y="53125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user roles &amp; login mechanisms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8"/>
          <p:cNvSpPr/>
          <p:nvPr/>
        </p:nvSpPr>
        <p:spPr>
          <a:xfrm>
            <a:off x="9363600" y="4709160"/>
            <a:ext cx="2651400" cy="1234080"/>
          </a:xfrm>
          <a:prstGeom prst="roundRect">
            <a:avLst>
              <a:gd name="adj" fmla="val 5185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9500760" y="48189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1A32C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0"/>
          <p:cNvSpPr/>
          <p:nvPr/>
        </p:nvSpPr>
        <p:spPr>
          <a:xfrm>
            <a:off x="9912240" y="48553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Constraints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9546480" y="53125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external APIs &amp; edge cases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3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REQUIREMENTS (SRS)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What the System Must Do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64008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Functional — selected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640080" y="2011680"/>
            <a:ext cx="5486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6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6492240" y="16002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Non-functional — qualities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6492240" y="2011680"/>
            <a:ext cx="5074560" cy="566640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6629400" y="201168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Security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8046720" y="201168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OTP expiry, strong password policy, CSRF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6492240" y="2660760"/>
            <a:ext cx="5074560" cy="566640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6629400" y="266076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Usability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8046720" y="266076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familiar chat UI, dark / light themes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6492240" y="3310200"/>
            <a:ext cx="5074560" cy="566640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6629400" y="331020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Reliability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8046720" y="331020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sessions persisted &amp; resumable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6492240" y="3959280"/>
            <a:ext cx="5074560" cy="566640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6629400" y="395928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Maintainability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8046720" y="395928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generation isolated in one component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7"/>
          <p:cNvSpPr/>
          <p:nvPr/>
        </p:nvSpPr>
        <p:spPr>
          <a:xfrm>
            <a:off x="6492240" y="4608720"/>
            <a:ext cx="5074560" cy="566640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8"/>
          <p:cNvSpPr/>
          <p:nvPr/>
        </p:nvSpPr>
        <p:spPr>
          <a:xfrm>
            <a:off x="6629400" y="460872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Portability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8046720" y="460872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ORM abstracts the database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6492240" y="5257800"/>
            <a:ext cx="5074560" cy="566640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6629400" y="525780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Scalability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8046720" y="525780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stateless views scale horizontally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3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SYSTEM DESIGN (SDS)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The Data Model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640080" y="1600200"/>
            <a:ext cx="7406280" cy="466308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0" descr="/home/claude/devdialogue/diagrams/fig_5_3_erd.png"/>
          <p:cNvPicPr/>
          <p:nvPr/>
        </p:nvPicPr>
        <p:blipFill>
          <a:blip r:embed="rId1"/>
          <a:stretch/>
        </p:blipFill>
        <p:spPr>
          <a:xfrm>
            <a:off x="777240" y="2148840"/>
            <a:ext cx="7131960" cy="356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3"/>
          <p:cNvSpPr/>
          <p:nvPr/>
        </p:nvSpPr>
        <p:spPr>
          <a:xfrm>
            <a:off x="8321040" y="17373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Four entities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8321040" y="22402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User + Profile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8321040" y="25146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account, plan, OTP, verification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8321040" y="30175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Session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8321040" y="32918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mode, status, title, history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8321040" y="37947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Message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8321040" y="40690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user / assistant, ordered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8321040" y="457200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GeneratedCode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1"/>
          <p:cNvSpPr/>
          <p:nvPr/>
        </p:nvSpPr>
        <p:spPr>
          <a:xfrm>
            <a:off x="8321040" y="48463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module name &amp; contents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8321040" y="553212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Cascading deletes keep data consistent — removing a session removes its messages and files.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SYSTEM DESIGN (SDS)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The Dialogue Engine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"/>
          <p:cNvSpPr/>
          <p:nvPr/>
        </p:nvSpPr>
        <p:spPr>
          <a:xfrm>
            <a:off x="548640" y="14173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The core component: it drives the questions, builds the summary, and produces the files — all behind one replaceable interface.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640080" y="192024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64008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280160" y="190188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Ask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1280160" y="222192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poses the next requirement question in order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640080" y="281628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640080" y="2816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1280160" y="279792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Track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1280160" y="311796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counts answers, saves each message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640080" y="37123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640080" y="3712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1280160" y="369432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Summarise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1280160" y="401436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builds a reviewable requirements summary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640080" y="46087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640080" y="460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1280160" y="459036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Confirm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1280160" y="491040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waits for the user to approve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640080" y="550476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640080" y="550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1280160" y="548640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Generate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3"/>
          <p:cNvSpPr/>
          <p:nvPr/>
        </p:nvSpPr>
        <p:spPr>
          <a:xfrm>
            <a:off x="1280160" y="580644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Mode 1 full · Mode 2 per-module loop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4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SYSTEM DESIGN (SDS)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A Request, End to End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640080" y="1645920"/>
            <a:ext cx="7680600" cy="466308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/home/claude/devdialogue/diagrams/fig_5_8_sequence.png"/>
          <p:cNvPicPr/>
          <p:nvPr/>
        </p:nvPicPr>
        <p:blipFill>
          <a:blip r:embed="rId1"/>
          <a:stretch/>
        </p:blipFill>
        <p:spPr>
          <a:xfrm>
            <a:off x="1468440" y="1783080"/>
            <a:ext cx="602352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3"/>
          <p:cNvSpPr/>
          <p:nvPr/>
        </p:nvSpPr>
        <p:spPr>
          <a:xfrm>
            <a:off x="8595360" y="17830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Thin views, one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8595360" y="2286000"/>
            <a:ext cx="31086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Browser posts the message (AJAX + CSRF)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View authenticates &amp; delegates to the engine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Engine saves, decides, and responds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Files returned, then loaded into the panel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8595360" y="539496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Views hold no state between requests — which is what makes the web tier easy to scale.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SYSTEM DESIGN (SDS)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Security by Design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548640" y="14173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Because the platform manages real accounts, four mechanisms work together.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640080" y="2148840"/>
            <a:ext cx="5394600" cy="1599840"/>
          </a:xfrm>
          <a:prstGeom prst="roundRect">
            <a:avLst>
              <a:gd name="adj" fmla="val 514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914400" y="2441520"/>
            <a:ext cx="685440" cy="6854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914400" y="24415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1783080" y="24415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Account verification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1783080" y="286200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New accounts stay inactive until a 6-digit OTP proves email ownership.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6355080" y="2148840"/>
            <a:ext cx="5394600" cy="1599840"/>
          </a:xfrm>
          <a:prstGeom prst="roundRect">
            <a:avLst>
              <a:gd name="adj" fmla="val 514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6629400" y="2441520"/>
            <a:ext cx="685440" cy="6854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6629400" y="24415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7498080" y="24415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OTP integrity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7498080" y="286200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Random 6-digit codes expire after 2 minutes, with a resend path.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640080" y="4023360"/>
            <a:ext cx="5394600" cy="1599840"/>
          </a:xfrm>
          <a:prstGeom prst="roundRect">
            <a:avLst>
              <a:gd name="adj" fmla="val 514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4"/>
          <p:cNvSpPr/>
          <p:nvPr/>
        </p:nvSpPr>
        <p:spPr>
          <a:xfrm>
            <a:off x="914400" y="4316040"/>
            <a:ext cx="685440" cy="6854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914400" y="43160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🔑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1783080" y="43160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Password policy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1783080" y="473652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Custom validator: length, capital first, lower-case, digit &amp; symbol.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8"/>
          <p:cNvSpPr/>
          <p:nvPr/>
        </p:nvSpPr>
        <p:spPr>
          <a:xfrm>
            <a:off x="6355080" y="4023360"/>
            <a:ext cx="5394600" cy="1599840"/>
          </a:xfrm>
          <a:prstGeom prst="roundRect">
            <a:avLst>
              <a:gd name="adj" fmla="val 514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9"/>
          <p:cNvSpPr/>
          <p:nvPr/>
        </p:nvSpPr>
        <p:spPr>
          <a:xfrm>
            <a:off x="6629400" y="4316040"/>
            <a:ext cx="685440" cy="6854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6629400" y="43160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1"/>
          <p:cNvSpPr/>
          <p:nvPr/>
        </p:nvSpPr>
        <p:spPr>
          <a:xfrm>
            <a:off x="7498080" y="43160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Access control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2"/>
          <p:cNvSpPr/>
          <p:nvPr/>
        </p:nvSpPr>
        <p:spPr>
          <a:xfrm>
            <a:off x="7498080" y="473652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 verification decorator guards every view; CSRF on all writes.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3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4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548640" y="4114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548640" y="7041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Technology Stack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64008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868680" y="19202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1A32C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868680" y="2240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Django 6.0 · Python 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868680" y="26334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MVT pattern, function views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448056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4709160" y="19202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1A32C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4709160" y="2240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HTML5 · CSS3 · JS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4709160" y="26334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Vanilla JS, Lucide icons, AJAX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0"/>
          <p:cNvSpPr/>
          <p:nvPr/>
        </p:nvSpPr>
        <p:spPr>
          <a:xfrm>
            <a:off x="832104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1"/>
          <p:cNvSpPr/>
          <p:nvPr/>
        </p:nvSpPr>
        <p:spPr>
          <a:xfrm>
            <a:off x="8549640" y="19202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1A32C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2"/>
          <p:cNvSpPr/>
          <p:nvPr/>
        </p:nvSpPr>
        <p:spPr>
          <a:xfrm>
            <a:off x="8549640" y="2240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SQLite via ORM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8549640" y="26334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Portable to PostgreSQL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4"/>
          <p:cNvSpPr/>
          <p:nvPr/>
        </p:nvSpPr>
        <p:spPr>
          <a:xfrm>
            <a:off x="640080" y="338328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868680" y="35661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1A32C"/>
                </a:solidFill>
                <a:effectLst/>
                <a:uFillTx/>
                <a:latin typeface="Calibri"/>
                <a:ea typeface="Calibri"/>
              </a:rPr>
              <a:t>Auth &amp; 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868680" y="3886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Django auth · SMTP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868680" y="42793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OTP verification &amp; reset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8"/>
          <p:cNvSpPr/>
          <p:nvPr/>
        </p:nvSpPr>
        <p:spPr>
          <a:xfrm>
            <a:off x="4480560" y="338328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4709160" y="35661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1A32C"/>
                </a:solidFill>
                <a:effectLst/>
                <a:uFillTx/>
                <a:latin typeface="Calibri"/>
                <a:ea typeface="Calibri"/>
              </a:rPr>
              <a:t>Testing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0"/>
          <p:cNvSpPr/>
          <p:nvPr/>
        </p:nvSpPr>
        <p:spPr>
          <a:xfrm>
            <a:off x="4709160" y="3886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Django TestCase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1"/>
          <p:cNvSpPr/>
          <p:nvPr/>
        </p:nvSpPr>
        <p:spPr>
          <a:xfrm>
            <a:off x="4709160" y="42793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OTP, validator, dialogue flow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2"/>
          <p:cNvSpPr/>
          <p:nvPr/>
        </p:nvSpPr>
        <p:spPr>
          <a:xfrm>
            <a:off x="8321040" y="338328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27306A"/>
          </a:solidFill>
          <a:ln w="12700">
            <a:solidFill>
              <a:srgbClr val="3A4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8549640" y="35661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1A32C"/>
                </a:solidFill>
                <a:effectLst/>
                <a:uFillTx/>
                <a:latin typeface="Calibri"/>
                <a:ea typeface="Calibri"/>
              </a:rPr>
              <a:t>Tooling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4"/>
          <p:cNvSpPr/>
          <p:nvPr/>
        </p:nvSpPr>
        <p:spPr>
          <a:xfrm>
            <a:off x="8549640" y="3886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Git · GitHub · VS Code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5"/>
          <p:cNvSpPr/>
          <p:nvPr/>
        </p:nvSpPr>
        <p:spPr>
          <a:xfrm>
            <a:off x="8549640" y="42793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Version control &amp; IDE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6"/>
          <p:cNvSpPr/>
          <p:nvPr/>
        </p:nvSpPr>
        <p:spPr>
          <a:xfrm>
            <a:off x="640080" y="5806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Dependencies: Django · python-docx · python-pptx · pypdf · python-dotenv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7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8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PROJECT STATUS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What Works Today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"/>
          <p:cNvSpPr/>
          <p:nvPr/>
        </p:nvSpPr>
        <p:spPr>
          <a:xfrm>
            <a:off x="640080" y="1691640"/>
            <a:ext cx="5486040" cy="4343040"/>
          </a:xfrm>
          <a:prstGeom prst="roundRect">
            <a:avLst>
              <a:gd name="adj" fmla="val 1895"/>
            </a:avLst>
          </a:prstGeom>
          <a:solidFill>
            <a:srgbClr val="EAF6EF"/>
          </a:solidFill>
          <a:ln w="12700">
            <a:solidFill>
              <a:srgbClr val="BFE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868680" y="18745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7A46"/>
                </a:solidFill>
                <a:effectLst/>
                <a:uFillTx/>
                <a:latin typeface="Cambria"/>
                <a:ea typeface="Cambria"/>
              </a:rPr>
              <a:t>✓  Fully working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868680" y="2377440"/>
            <a:ext cx="50288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Secure OTP registration, login &amp; password reset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Structured 4-question requirement dialogue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Requirements summary + confirmation step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Mode 1 and Mode 2 generation flows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Persistent sessions, history, rename &amp; search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Code workspace: view, copy, download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9485A"/>
              </a:buClr>
              <a:buFont typeface="OpenSymbol"/>
              <a:buChar char="✓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Dark / light themes &amp; subscription tiers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5"/>
          <p:cNvSpPr/>
          <p:nvPr/>
        </p:nvSpPr>
        <p:spPr>
          <a:xfrm>
            <a:off x="6400800" y="1727640"/>
            <a:ext cx="5166000" cy="4343040"/>
          </a:xfrm>
          <a:prstGeom prst="roundRect">
            <a:avLst>
              <a:gd name="adj" fmla="val 1895"/>
            </a:avLst>
          </a:prstGeom>
          <a:solidFill>
            <a:srgbClr val="FBF3E2"/>
          </a:solidFill>
          <a:ln w="12700">
            <a:solidFill>
              <a:srgbClr val="EA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6629400" y="18745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A9781A"/>
                </a:solidFill>
                <a:effectLst/>
                <a:uFillTx/>
                <a:latin typeface="Cambria"/>
                <a:ea typeface="Cambria"/>
              </a:rPr>
              <a:t>⟳  Designed for next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6629400" y="2377440"/>
            <a:ext cx="4754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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Live LLM backend for real code generation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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Optional N8N workflow orchestration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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ML-based stop condition for the interview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9485A"/>
              </a:buClr>
              <a:buFont typeface="Symbol" charset="2"/>
              <a:buChar char=""/>
            </a:pPr>
            <a:r>
              <a:rPr lang="en-US" sz="13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PostgreSQL for concurrent production use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6629400" y="507492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9781A"/>
                </a:solidFill>
                <a:effectLst/>
                <a:uFillTx/>
                <a:latin typeface="Calibri"/>
                <a:ea typeface="Calibri"/>
              </a:rPr>
              <a:t>Generation currently returns structured templates through the engine — the interface is ready for a model to drop in.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9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0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LOOKING AHEAD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The Road to a Live Model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640080" y="1828800"/>
            <a:ext cx="2651400" cy="3291480"/>
          </a:xfrm>
          <a:prstGeom prst="roundRect">
            <a:avLst>
              <a:gd name="adj" fmla="val 310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1508760" y="2148840"/>
            <a:ext cx="914040" cy="9140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1508760" y="21488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777240" y="324612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Integrate LLM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841320" y="3886200"/>
            <a:ext cx="2248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Replace the template method with a DeepSeek/LLM call behind the same interface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7"/>
          <p:cNvSpPr/>
          <p:nvPr/>
        </p:nvSpPr>
        <p:spPr>
          <a:xfrm>
            <a:off x="3566160" y="1828800"/>
            <a:ext cx="2651400" cy="3291480"/>
          </a:xfrm>
          <a:prstGeom prst="roundRect">
            <a:avLst>
              <a:gd name="adj" fmla="val 3103"/>
            </a:avLst>
          </a:prstGeom>
          <a:solidFill>
            <a:srgbClr val="EAF2F7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8"/>
          <p:cNvSpPr/>
          <p:nvPr/>
        </p:nvSpPr>
        <p:spPr>
          <a:xfrm>
            <a:off x="4434840" y="2148840"/>
            <a:ext cx="914040" cy="9140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4434840" y="21488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3703320" y="324612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Orchestrate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3767400" y="3886200"/>
            <a:ext cx="2248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Add N8N workflows to manage prompts and multi-step generation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2"/>
          <p:cNvSpPr/>
          <p:nvPr/>
        </p:nvSpPr>
        <p:spPr>
          <a:xfrm>
            <a:off x="6492240" y="1828800"/>
            <a:ext cx="2651400" cy="3291480"/>
          </a:xfrm>
          <a:prstGeom prst="roundRect">
            <a:avLst>
              <a:gd name="adj" fmla="val 3103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7360920" y="2148840"/>
            <a:ext cx="914040" cy="9140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7360920" y="21488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6629400" y="324612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Learn the stop point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6693480" y="3886200"/>
            <a:ext cx="2248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Train the interview to end when enough context is gathered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9418320" y="1828800"/>
            <a:ext cx="2651400" cy="3291480"/>
          </a:xfrm>
          <a:prstGeom prst="roundRect">
            <a:avLst>
              <a:gd name="adj" fmla="val 3103"/>
            </a:avLst>
          </a:prstGeom>
          <a:solidFill>
            <a:srgbClr val="EAF2F7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8"/>
          <p:cNvSpPr/>
          <p:nvPr/>
        </p:nvSpPr>
        <p:spPr>
          <a:xfrm>
            <a:off x="10287000" y="2148840"/>
            <a:ext cx="914040" cy="914040"/>
          </a:xfrm>
          <a:prstGeom prst="ellipse">
            <a:avLst/>
          </a:prstGeom>
          <a:solidFill>
            <a:srgbClr val="E1A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9"/>
          <p:cNvSpPr/>
          <p:nvPr/>
        </p:nvSpPr>
        <p:spPr>
          <a:xfrm>
            <a:off x="10287000" y="21488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9555480" y="324612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Scale &amp; extend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1"/>
          <p:cNvSpPr/>
          <p:nvPr/>
        </p:nvSpPr>
        <p:spPr>
          <a:xfrm>
            <a:off x="9619560" y="3886200"/>
            <a:ext cx="2248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PostgreSQL, an IDE extension, and broader language support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2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3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Sustainable Development Goals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640080" y="178308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"/>
          <p:cNvSpPr/>
          <p:nvPr/>
        </p:nvSpPr>
        <p:spPr>
          <a:xfrm>
            <a:off x="896040" y="2075760"/>
            <a:ext cx="137124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896040" y="219456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5"/>
          <p:cNvSpPr/>
          <p:nvPr/>
        </p:nvSpPr>
        <p:spPr>
          <a:xfrm>
            <a:off x="896040" y="249624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2468880" y="22402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Quality Education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7"/>
          <p:cNvSpPr/>
          <p:nvPr/>
        </p:nvSpPr>
        <p:spPr>
          <a:xfrm>
            <a:off x="2468880" y="269748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Teaches structured requirements thinking to new developers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6355080" y="178308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9"/>
          <p:cNvSpPr/>
          <p:nvPr/>
        </p:nvSpPr>
        <p:spPr>
          <a:xfrm>
            <a:off x="6611040" y="2075760"/>
            <a:ext cx="137124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0"/>
          <p:cNvSpPr/>
          <p:nvPr/>
        </p:nvSpPr>
        <p:spPr>
          <a:xfrm>
            <a:off x="6611040" y="219456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6611040" y="249624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08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2"/>
          <p:cNvSpPr/>
          <p:nvPr/>
        </p:nvSpPr>
        <p:spPr>
          <a:xfrm>
            <a:off x="8183880" y="22402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Decent Work &amp; Growth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3"/>
          <p:cNvSpPr/>
          <p:nvPr/>
        </p:nvSpPr>
        <p:spPr>
          <a:xfrm>
            <a:off x="8183880" y="269748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Cuts time wasted in iterative coding, raising productivity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4"/>
          <p:cNvSpPr/>
          <p:nvPr/>
        </p:nvSpPr>
        <p:spPr>
          <a:xfrm>
            <a:off x="640080" y="402336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5"/>
          <p:cNvSpPr/>
          <p:nvPr/>
        </p:nvSpPr>
        <p:spPr>
          <a:xfrm>
            <a:off x="896040" y="4316040"/>
            <a:ext cx="1371240" cy="137124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6"/>
          <p:cNvSpPr/>
          <p:nvPr/>
        </p:nvSpPr>
        <p:spPr>
          <a:xfrm>
            <a:off x="896040" y="4434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7"/>
          <p:cNvSpPr/>
          <p:nvPr/>
        </p:nvSpPr>
        <p:spPr>
          <a:xfrm>
            <a:off x="896040" y="473652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09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8"/>
          <p:cNvSpPr/>
          <p:nvPr/>
        </p:nvSpPr>
        <p:spPr>
          <a:xfrm>
            <a:off x="2468880" y="448056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Industry &amp; Innovation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9"/>
          <p:cNvSpPr/>
          <p:nvPr/>
        </p:nvSpPr>
        <p:spPr>
          <a:xfrm>
            <a:off x="2468880" y="493776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Innovates in AI-assisted software tooling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0"/>
          <p:cNvSpPr/>
          <p:nvPr/>
        </p:nvSpPr>
        <p:spPr>
          <a:xfrm>
            <a:off x="6355080" y="402336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4F8FB"/>
          </a:solidFill>
          <a:ln w="12700">
            <a:solidFill>
              <a:srgbClr val="D9E2EC"/>
            </a:solidFill>
            <a:round/>
          </a:ln>
          <a:effectLst>
            <a:outerShdw algn="bl" blurRad="76320" dir="5400000" dist="25560" kx="0" ky="0" rotWithShape="0" sx="100000" sy="100000">
              <a:srgbClr val="8A98A8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1"/>
          <p:cNvSpPr/>
          <p:nvPr/>
        </p:nvSpPr>
        <p:spPr>
          <a:xfrm>
            <a:off x="6611040" y="4316040"/>
            <a:ext cx="1371240" cy="1371240"/>
          </a:xfrm>
          <a:prstGeom prst="roundRect">
            <a:avLst>
              <a:gd name="adj" fmla="val 5333"/>
            </a:avLst>
          </a:prstGeom>
          <a:solidFill>
            <a:srgbClr val="E1A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2"/>
          <p:cNvSpPr/>
          <p:nvPr/>
        </p:nvSpPr>
        <p:spPr>
          <a:xfrm>
            <a:off x="6611040" y="4434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3"/>
          <p:cNvSpPr/>
          <p:nvPr/>
        </p:nvSpPr>
        <p:spPr>
          <a:xfrm>
            <a:off x="6611040" y="473652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17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4"/>
          <p:cNvSpPr/>
          <p:nvPr/>
        </p:nvSpPr>
        <p:spPr>
          <a:xfrm>
            <a:off x="8183880" y="448056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631"/>
                </a:solidFill>
                <a:effectLst/>
                <a:uFillTx/>
                <a:latin typeface="Cambria"/>
                <a:ea typeface="Cambria"/>
              </a:rPr>
              <a:t>Partnerships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5"/>
          <p:cNvSpPr/>
          <p:nvPr/>
        </p:nvSpPr>
        <p:spPr>
          <a:xfrm>
            <a:off x="8183880" y="493776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9485A"/>
                </a:solidFill>
                <a:effectLst/>
                <a:uFillTx/>
                <a:latin typeface="Calibri"/>
                <a:ea typeface="Calibri"/>
              </a:rPr>
              <a:t>Integrates open technologies and third-party AI services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6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7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9418320" y="4206240"/>
            <a:ext cx="4205880" cy="4205880"/>
          </a:xfrm>
          <a:prstGeom prst="ellipse">
            <a:avLst/>
          </a:prstGeom>
          <a:noFill/>
          <a:ln w="19050">
            <a:solidFill>
              <a:srgbClr val="2E3A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"/>
          <p:cNvSpPr/>
          <p:nvPr/>
        </p:nvSpPr>
        <p:spPr>
          <a:xfrm>
            <a:off x="10332720" y="5120640"/>
            <a:ext cx="2377080" cy="23770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10332720" y="5120640"/>
            <a:ext cx="2377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822960" y="10515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FB3C9"/>
                </a:solidFill>
                <a:effectLst/>
                <a:uFillTx/>
                <a:latin typeface="Calibri"/>
                <a:ea typeface="Calibri"/>
              </a:rPr>
              <a:t>IN SUMMARY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4"/>
          <p:cNvSpPr/>
          <p:nvPr/>
        </p:nvSpPr>
        <p:spPr>
          <a:xfrm>
            <a:off x="777240" y="141732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Requirements first,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code second.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868680" y="3200400"/>
            <a:ext cx="84121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6EEF5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A working dialogue that makes requirements explicit before generation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6EEF5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Two first-class modes — full and incremental — in one session model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6EEF5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A complete, secure, production-shaped web application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6EEF5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E6EEF5"/>
                </a:solidFill>
                <a:effectLst/>
                <a:uFillTx/>
                <a:latin typeface="Calibri"/>
                <a:ea typeface="Calibri"/>
              </a:rPr>
              <a:t>An architecture ready for a live LLM to drop straight 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868680" y="5623560"/>
            <a:ext cx="2926080" cy="360"/>
          </a:xfrm>
          <a:prstGeom prst="line">
            <a:avLst/>
          </a:prstGeom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822960" y="58064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  ·  Questions?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11430000" y="6419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548640" y="641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8A8"/>
                </a:solidFill>
                <a:effectLst/>
                <a:uFillTx/>
                <a:latin typeface="Calibri"/>
                <a:ea typeface="Calibri"/>
              </a:rPr>
              <a:t>DevDialogue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2026-07-24T22:08:10Z</dcterms:created>
  <dc:creator>PptxGenJS</dc:creator>
  <dc:description/>
  <dc:language>en-US</dc:language>
  <cp:lastModifiedBy/>
  <dcterms:modified xsi:type="dcterms:W3CDTF">2026-07-29T13:38:08Z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